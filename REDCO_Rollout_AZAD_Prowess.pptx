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2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</a:rPr>
              <a:t>P R O W E S 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937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55A"/>
                </a:solidFill>
              </a:rPr>
              <a:t>You and Prowess, Better Together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536192"/>
            <a:ext cx="502920" cy="73152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6002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</a:rPr>
              <a:t>REDCO Rollout to AZAD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274320" y="259689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SAP SuccessFactors Employee Central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3035808"/>
            <a:ext cx="7315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9BB"/>
                </a:solidFill>
              </a:rPr>
              <a:t>Pre-Requisites, Gap Assessment &amp; Migration Scope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3493008"/>
            <a:ext cx="34747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3630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V1.0  |  25th June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4681728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A8CAF"/>
                </a:solidFill>
              </a:rPr>
              <a:t>Prepared for REDCO  •  SAP SuccessFactors EC &amp; ECP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680960" y="3017520"/>
            <a:ext cx="1280160" cy="1005840"/>
          </a:xfrm>
          <a:prstGeom prst="rect">
            <a:avLst/>
          </a:prstGeom>
          <a:solidFill>
            <a:srgbClr val="253358"/>
          </a:solidFill>
          <a:ln w="25400">
            <a:solidFill>
              <a:srgbClr val="5470A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91856" y="3328416"/>
            <a:ext cx="932688" cy="731520"/>
          </a:xfrm>
          <a:prstGeom prst="rect">
            <a:avLst/>
          </a:prstGeom>
          <a:solidFill>
            <a:srgbClr val="2E4580"/>
          </a:solidFill>
          <a:ln w="12700">
            <a:solidFill>
              <a:srgbClr val="2E458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1280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300" kern="0" dirty="0">
                <a:solidFill>
                  <a:srgbClr val="1D2B4F"/>
                </a:solidFill>
              </a:rPr>
              <a:t>P R O W E S 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74320" y="374904"/>
            <a:ext cx="182880" cy="329184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56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B4F"/>
                </a:solidFill>
              </a:rPr>
              <a:t>Project Objective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REDCO Rollout to AZAD  •  25 Jun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0" y="4873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2 / 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669341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54864" cy="669341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130198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13019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996696"/>
            <a:ext cx="7799832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Onboard REDCO into existing AZAD SuccessFactors Employee Central instance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711757"/>
            <a:ext cx="8595360" cy="669341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711757"/>
            <a:ext cx="54864" cy="669341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1881835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88183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1748333"/>
            <a:ext cx="7799832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Assess prerequisites before rollout begins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463394"/>
            <a:ext cx="8595360" cy="669341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463394"/>
            <a:ext cx="54864" cy="669341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" y="2633472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" y="2499970"/>
            <a:ext cx="7799832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Perform AWJ vs AZAD gap 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215030"/>
            <a:ext cx="8595360" cy="669341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215030"/>
            <a:ext cx="54864" cy="669341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338510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338510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" y="3251606"/>
            <a:ext cx="7799832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Define migration scope for EC &amp; ECP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966667"/>
            <a:ext cx="8595360" cy="669341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966667"/>
            <a:ext cx="54864" cy="669341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" y="4136746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413674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6968" y="4003243"/>
            <a:ext cx="7799832" cy="5961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Identify implementation risks and recommendations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1280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300" kern="0" dirty="0">
                <a:solidFill>
                  <a:srgbClr val="1D2B4F"/>
                </a:solidFill>
              </a:rPr>
              <a:t>P R O W E S 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74320" y="374904"/>
            <a:ext cx="182880" cy="329184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56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B4F"/>
                </a:solidFill>
              </a:rPr>
              <a:t>Project Pre-Requisites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REDCO Rollout to AZAD  •  25 Jun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0" y="4873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3 / 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67562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06756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996696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Obtain AWJ system access for analysis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586484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586484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1693926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6939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1623060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Conduct workshop with REDCO HR team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12848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" y="2320290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32029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" y="2249424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Understand business-specific exceptions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839212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839212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2946654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9466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" y="2875788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Create REDCO as a separate Legal Entity in AZAD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465576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65576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" y="3573018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301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6968" y="3502152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Provide separate Role-Based Permissions (RBP)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091940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091940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" y="4199382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419938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86968" y="4128516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Validate integrations and organizational structure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1280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300" kern="0" dirty="0">
                <a:solidFill>
                  <a:srgbClr val="1D2B4F"/>
                </a:solidFill>
              </a:rPr>
              <a:t>P R O W E S 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74320" y="374904"/>
            <a:ext cx="182880" cy="329184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56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B4F"/>
                </a:solidFill>
              </a:rPr>
              <a:t>Solution Recommendation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REDCO Rollout to AZAD  •  25 Jun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0" y="4873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4 / 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5725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54864" cy="857250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224153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22415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996696"/>
            <a:ext cx="7799832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Implement REDCO as an independent Legal Entity in AZAD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899666"/>
            <a:ext cx="8595360" cy="85725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99666"/>
            <a:ext cx="54864" cy="857250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216369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1636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1936242"/>
            <a:ext cx="7799832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Reuse existing EC configuration wherever applicable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39212"/>
            <a:ext cx="8595360" cy="85725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39212"/>
            <a:ext cx="54864" cy="857250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" y="3103245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1032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" y="2875788"/>
            <a:ext cx="7799832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Maintain separate security, workflows, and reporting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778758"/>
            <a:ext cx="8595360" cy="85725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778758"/>
            <a:ext cx="54864" cy="857250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4042791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04279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" y="3815334"/>
            <a:ext cx="7799832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Minimize implementation effort through configuration reuse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1280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300" kern="0" dirty="0">
                <a:solidFill>
                  <a:srgbClr val="1D2B4F"/>
                </a:solidFill>
              </a:rPr>
              <a:t>P R O W E S 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74320" y="374904"/>
            <a:ext cx="182880" cy="329184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56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B4F"/>
                </a:solidFill>
              </a:rPr>
              <a:t>AZAD vs AWJ Gap Analysis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REDCO Rollout to AZAD  •  25 Jun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0" y="4873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5 / 11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32688"/>
          <a:ext cx="85953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005840"/>
                <a:gridCol w="548640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2B4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Business Trip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Similar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Minor field changes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Schooling Allowance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Similar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Minor field changes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Annual Ticket Request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Gap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Not available in AWJ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Miscellaneous Request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Different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Azad: Training Request + Business Card Request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Training Request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Different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Separate request type in AWJ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Exit / Re-entry Visa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Similar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Minor field changes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Letters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Different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Configuration differs between systems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Housing Advance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Similar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Available in both systems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Benefits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Different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Health &amp; wellness, Marriage, Relocation, New Born Gift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Accrual &amp; Leave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Different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AWJ: grade-based monthly; Azad: 22 days flat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Time Tracking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E65100"/>
                          </a:solidFill>
                        </a:rPr>
                        <a:t>Different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Enabled in Azad; OT manual in AWJ Timesheet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Workflow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E7D32"/>
                          </a:solidFill>
                        </a:rPr>
                        <a:t>Similar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Minor differences only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Other Payments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Gap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B4F"/>
                          </a:solidFill>
                        </a:rPr>
                        <a:t>Not available in AWJ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1280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300" kern="0" dirty="0">
                <a:solidFill>
                  <a:srgbClr val="1D2B4F"/>
                </a:solidFill>
              </a:rPr>
              <a:t>P R O W E S 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74320" y="374904"/>
            <a:ext cx="182880" cy="329184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56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B4F"/>
                </a:solidFill>
              </a:rPr>
              <a:t>Key Functional Differences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REDCO Rollout to AZAD  •  25 Jun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0" y="4873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6 / 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85725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54864" cy="857250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224153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224153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996696"/>
            <a:ext cx="7799832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Benefits configuration differences between AZAD and AWJ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899666"/>
            <a:ext cx="8595360" cy="85725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99666"/>
            <a:ext cx="54864" cy="857250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216369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1636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1936242"/>
            <a:ext cx="7799832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Time Tracking enabled in Azad; OT entered manually in AWJ Timesheet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39212"/>
            <a:ext cx="8595360" cy="85725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839212"/>
            <a:ext cx="54864" cy="857250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" y="3103245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3103245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" y="2875788"/>
            <a:ext cx="7799832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Leave policy differences — grade-based in AWJ vs flat 22 days in Azad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778758"/>
            <a:ext cx="8595360" cy="85725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778758"/>
            <a:ext cx="54864" cy="857250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4042791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4042791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" y="3815334"/>
            <a:ext cx="7799832" cy="784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Workflow simplification required for REDCO onboarding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1280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300" kern="0" dirty="0">
                <a:solidFill>
                  <a:srgbClr val="1D2B4F"/>
                </a:solidFill>
              </a:rPr>
              <a:t>P R O W E S 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74320" y="374904"/>
            <a:ext cx="182880" cy="329184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56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B4F"/>
                </a:solidFill>
              </a:rPr>
              <a:t>Migration Scope — Employee Central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REDCO Rollout to AZAD  •  25 Jun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0" y="4873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7 / 11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8503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</a:rPr>
              <a:t>Active employees only  •  * Items require discussion on which events to migrate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024128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4904" y="1043940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" y="10439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069848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Personal Information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438656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" y="1458468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" y="1458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1484376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Employment Information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1853184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4904" y="1872996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" y="18729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1898904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Job Information 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267712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4904" y="2287524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" y="22875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2313432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Compensation *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2682240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4904" y="2702052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" y="27020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2727960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Address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096768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4904" y="3116580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4904" y="31165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3142488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Email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511296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4904" y="3531108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" y="35311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77240" y="3557016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Phone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3925824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4904" y="3945636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" y="39456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3971544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National ID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274320" y="4340352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4904" y="4360164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" y="43601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" y="4386072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Passport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617720" y="1024128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18304" y="1043940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18304" y="10439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10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120640" y="1069848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Dependents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1438656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18304" y="1458468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18304" y="14584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11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20640" y="1484376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Emergency Contacts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17720" y="1853184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718304" y="1872996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18304" y="18729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12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120640" y="1898904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Bank Information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4617720" y="2267712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718304" y="2287524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8304" y="22875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13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120640" y="2313432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Job Relationships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617720" y="2682240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718304" y="2702052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718304" y="27020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120640" y="2727960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Time Profile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617720" y="3096768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718304" y="3116580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718304" y="31165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15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5120640" y="3142488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Work Schedule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617720" y="3511296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718304" y="3531108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18304" y="35311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16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120640" y="3557016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Exit &amp; Entry Visa Requests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4617720" y="3925824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718304" y="3945636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718304" y="39456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17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5120640" y="3971544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Annual Ticket Requests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617720" y="4340352"/>
            <a:ext cx="4160520" cy="36880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718304" y="4360164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718304" y="43601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18</a:t>
            </a:r>
            <a:endParaRPr lang="en-US" sz="900" dirty="0"/>
          </a:p>
        </p:txBody>
      </p:sp>
      <p:sp>
        <p:nvSpPr>
          <p:cNvPr id="80" name="Text 78"/>
          <p:cNvSpPr/>
          <p:nvPr/>
        </p:nvSpPr>
        <p:spPr>
          <a:xfrm>
            <a:off x="5120640" y="4386072"/>
            <a:ext cx="3575304" cy="277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B4F"/>
                </a:solidFill>
              </a:rPr>
              <a:t>Leaves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1280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300" kern="0" dirty="0">
                <a:solidFill>
                  <a:srgbClr val="1D2B4F"/>
                </a:solidFill>
              </a:rPr>
              <a:t>P R O W E S 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74320" y="374904"/>
            <a:ext cx="182880" cy="329184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56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B4F"/>
                </a:solidFill>
              </a:rPr>
              <a:t>Migration Scope — Employee Central Payroll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REDCO Rollout to AZAD  •  25 Jun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0" y="4873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8 / 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60520" cy="656082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74904" y="112356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12356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1005840"/>
            <a:ext cx="3575304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B4F"/>
                </a:solidFill>
              </a:rPr>
              <a:t>Payroll Area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725930"/>
            <a:ext cx="4160520" cy="656082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" y="188937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18893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1771650"/>
            <a:ext cx="3575304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B4F"/>
                </a:solidFill>
              </a:rPr>
              <a:t>Payroll Status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491740"/>
            <a:ext cx="4160520" cy="656082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" y="265518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655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2537460"/>
            <a:ext cx="3575304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B4F"/>
                </a:solidFill>
              </a:rPr>
              <a:t>Basic Pay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57550"/>
            <a:ext cx="4160520" cy="656082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4904" y="342099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34209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3303270"/>
            <a:ext cx="3575304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B4F"/>
                </a:solidFill>
              </a:rPr>
              <a:t>Recurring Payments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17720" y="960120"/>
            <a:ext cx="4160520" cy="656082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18304" y="112356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18304" y="112356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20640" y="1005840"/>
            <a:ext cx="3575304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B4F"/>
                </a:solidFill>
              </a:rPr>
              <a:t>One-Time Payments — Business Trip, Schooling Allowance, Training Request, Other Payment, Housing Advance, Health &amp; Wellness, Marriage Allowance, Relocation Allowance, New Born Gift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17720" y="1725930"/>
            <a:ext cx="4160520" cy="656082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18304" y="188937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18304" y="188937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120640" y="1771650"/>
            <a:ext cx="3575304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B4F"/>
                </a:solidFill>
              </a:rPr>
              <a:t>Cost Center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17720" y="2491740"/>
            <a:ext cx="4160520" cy="656082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18304" y="265518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18304" y="265518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120640" y="2537460"/>
            <a:ext cx="3575304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B4F"/>
                </a:solidFill>
              </a:rPr>
              <a:t>Tax Information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17720" y="3257550"/>
            <a:ext cx="4160520" cy="656082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304" y="3420999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420999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08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120640" y="3303270"/>
            <a:ext cx="3575304" cy="5646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B4F"/>
                </a:solidFill>
              </a:rPr>
              <a:t>Bank Details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023360"/>
            <a:ext cx="8595360" cy="685800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4904" y="4201668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4904" y="4201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" y="4069080"/>
            <a:ext cx="8010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D2B4F"/>
                </a:solidFill>
              </a:rPr>
              <a:t>Payroll Control Data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1280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300" kern="0" dirty="0">
                <a:solidFill>
                  <a:srgbClr val="1D2B4F"/>
                </a:solidFill>
              </a:rPr>
              <a:t>P R O W E S 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74320" y="374904"/>
            <a:ext cx="182880" cy="329184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56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B4F"/>
                </a:solidFill>
              </a:rPr>
              <a:t>Risks &amp; Mitigation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REDCO Rollout to AZAD  •  25 Jun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0" y="4873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9 / 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0624" y="1067562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106756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86968" y="996696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Lack of AWJ access — may delay gap assessment timeline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1586484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586484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0624" y="1693926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169392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86968" y="1623060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Business process differences — realignment required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212848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212848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0624" y="2320290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" y="232029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86968" y="2249424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Workflow redesign — approval chain complexity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2839212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839212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0624" y="2946654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" y="294665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6968" y="2875788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Time Tracking differences — manual OT gaps in payroll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465576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3465576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0624" y="3573018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" y="357301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86968" y="3502152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Benefit configuration gaps — custom setup required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091940"/>
            <a:ext cx="8595360" cy="544068"/>
          </a:xfrm>
          <a:prstGeom prst="rect">
            <a:avLst/>
          </a:prstGeom>
          <a:solidFill>
            <a:srgbClr val="F2F4F7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4091940"/>
            <a:ext cx="54864" cy="544068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0624" y="4199382"/>
            <a:ext cx="329184" cy="329184"/>
          </a:xfrm>
          <a:prstGeom prst="ellipse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" y="419938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886968" y="4128516"/>
            <a:ext cx="7799832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B4F"/>
                </a:solidFill>
              </a:rPr>
              <a:t>Data Mapping — field-level validation before migration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23760" y="128016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spc="300" kern="0" dirty="0">
                <a:solidFill>
                  <a:srgbClr val="1D2B4F"/>
                </a:solidFill>
              </a:rPr>
              <a:t>P R O W E S S</a:t>
            </a:r>
            <a:endParaRPr lang="en-US" sz="750" dirty="0"/>
          </a:p>
        </p:txBody>
      </p:sp>
      <p:sp>
        <p:nvSpPr>
          <p:cNvPr id="3" name="Shape 1"/>
          <p:cNvSpPr/>
          <p:nvPr/>
        </p:nvSpPr>
        <p:spPr>
          <a:xfrm>
            <a:off x="274320" y="374904"/>
            <a:ext cx="182880" cy="329184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35661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D2B4F"/>
                </a:solidFill>
              </a:rPr>
              <a:t>Implementation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0"/>
          </a:xfrm>
          <a:prstGeom prst="line">
            <a:avLst/>
          </a:prstGeom>
          <a:noFill/>
          <a:ln w="1016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873752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REDCO Rollout to AZAD  •  25 Jun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858000" y="487375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10 / 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8595360" cy="420624"/>
          </a:xfrm>
          <a:prstGeom prst="rect">
            <a:avLst/>
          </a:prstGeom>
          <a:solidFill>
            <a:srgbClr val="F2F4F7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960120"/>
            <a:ext cx="1280160" cy="420624"/>
          </a:xfrm>
          <a:prstGeom prst="rect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96012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91640" y="1077895"/>
            <a:ext cx="1143000" cy="185075"/>
          </a:xfrm>
          <a:prstGeom prst="roundRect">
            <a:avLst>
              <a:gd name="adj" fmla="val 24703"/>
            </a:avLst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17520" y="96012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B4F"/>
                </a:solidFill>
              </a:rPr>
              <a:t>Discovery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" y="1435608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435608"/>
            <a:ext cx="1280160" cy="420624"/>
          </a:xfrm>
          <a:prstGeom prst="rect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43560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2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91640" y="1553383"/>
            <a:ext cx="1143000" cy="185075"/>
          </a:xfrm>
          <a:prstGeom prst="roundRect">
            <a:avLst>
              <a:gd name="adj" fmla="val 24703"/>
            </a:avLst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17520" y="143560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B4F"/>
                </a:solidFill>
              </a:rPr>
              <a:t>Workshops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74320" y="1911096"/>
            <a:ext cx="8595360" cy="420624"/>
          </a:xfrm>
          <a:prstGeom prst="rect">
            <a:avLst/>
          </a:prstGeom>
          <a:solidFill>
            <a:srgbClr val="F2F4F7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911096"/>
            <a:ext cx="1280160" cy="420624"/>
          </a:xfrm>
          <a:prstGeom prst="rect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191109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3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91640" y="2028871"/>
            <a:ext cx="1143000" cy="185075"/>
          </a:xfrm>
          <a:prstGeom prst="roundRect">
            <a:avLst>
              <a:gd name="adj" fmla="val 24703"/>
            </a:avLst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1911096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B4F"/>
                </a:solidFill>
              </a:rPr>
              <a:t>Gap Analysis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2386584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386584"/>
            <a:ext cx="1280160" cy="420624"/>
          </a:xfrm>
          <a:prstGeom prst="rect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2386584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91640" y="2504359"/>
            <a:ext cx="1143000" cy="185075"/>
          </a:xfrm>
          <a:prstGeom prst="roundRect">
            <a:avLst>
              <a:gd name="adj" fmla="val 24703"/>
            </a:avLst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2386584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B4F"/>
                </a:solidFill>
              </a:rPr>
              <a:t>Design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2862072"/>
            <a:ext cx="8595360" cy="420624"/>
          </a:xfrm>
          <a:prstGeom prst="rect">
            <a:avLst/>
          </a:prstGeom>
          <a:solidFill>
            <a:srgbClr val="F2F4F7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" y="2862072"/>
            <a:ext cx="1280160" cy="420624"/>
          </a:xfrm>
          <a:prstGeom prst="rect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8620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Weeks 5–6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691640" y="2979847"/>
            <a:ext cx="1143000" cy="185075"/>
          </a:xfrm>
          <a:prstGeom prst="roundRect">
            <a:avLst>
              <a:gd name="adj" fmla="val 24703"/>
            </a:avLst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2862072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B4F"/>
                </a:solidFill>
              </a:rPr>
              <a:t>Build &amp; Development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74320" y="3337560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" y="3337560"/>
            <a:ext cx="1280160" cy="420624"/>
          </a:xfrm>
          <a:prstGeom prst="rect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337560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7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691640" y="3455335"/>
            <a:ext cx="1143000" cy="185075"/>
          </a:xfrm>
          <a:prstGeom prst="roundRect">
            <a:avLst>
              <a:gd name="adj" fmla="val 24703"/>
            </a:avLst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337560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B4F"/>
                </a:solidFill>
              </a:rPr>
              <a:t>Testing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274320" y="3813048"/>
            <a:ext cx="8595360" cy="420624"/>
          </a:xfrm>
          <a:prstGeom prst="rect">
            <a:avLst/>
          </a:prstGeom>
          <a:solidFill>
            <a:srgbClr val="F2F4F7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3813048"/>
            <a:ext cx="1280160" cy="420624"/>
          </a:xfrm>
          <a:prstGeom prst="rect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381304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8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691640" y="3930823"/>
            <a:ext cx="1143000" cy="185075"/>
          </a:xfrm>
          <a:prstGeom prst="roundRect">
            <a:avLst>
              <a:gd name="adj" fmla="val 24703"/>
            </a:avLst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17520" y="3813048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B4F"/>
                </a:solidFill>
              </a:rPr>
              <a:t>UAT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74320" y="4288536"/>
            <a:ext cx="85953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0D5D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74320" y="4288536"/>
            <a:ext cx="1280160" cy="420624"/>
          </a:xfrm>
          <a:prstGeom prst="rect">
            <a:avLst/>
          </a:prstGeom>
          <a:solidFill>
            <a:srgbClr val="1D2B4F"/>
          </a:solidFill>
          <a:ln w="12700">
            <a:solidFill>
              <a:srgbClr val="1D2B4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2885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Week 9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691640" y="4406311"/>
            <a:ext cx="1143000" cy="185075"/>
          </a:xfrm>
          <a:prstGeom prst="roundRect">
            <a:avLst>
              <a:gd name="adj" fmla="val 24703"/>
            </a:avLst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017520" y="4288536"/>
            <a:ext cx="5852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B4F"/>
                </a:solidFill>
              </a:rPr>
              <a:t>Go-Live Preparation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D2B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01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FFFFF"/>
                </a:solidFill>
              </a:rPr>
              <a:t>P R O W E S 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274320" y="49377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9A55A"/>
                </a:solidFill>
              </a:rPr>
              <a:t>You and Prowess, Better Together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74320" y="1828800"/>
            <a:ext cx="502920" cy="73152"/>
          </a:xfrm>
          <a:prstGeom prst="rect">
            <a:avLst/>
          </a:prstGeom>
          <a:solidFill>
            <a:srgbClr val="C9A55A"/>
          </a:solidFill>
          <a:ln w="12700">
            <a:solidFill>
              <a:srgbClr val="C9A5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901952"/>
            <a:ext cx="8595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Thank You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27432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99BB"/>
                </a:solidFill>
              </a:rPr>
              <a:t>We look forward to partnering with REDCO on this journey.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3566160"/>
            <a:ext cx="347472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370332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Prepared for REDCO  •  SAP SuccessFactors EC &amp; ECP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40050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BB"/>
                </a:solidFill>
              </a:rPr>
              <a:t>V1.0  |  25th June 2026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3017520"/>
            <a:ext cx="1280160" cy="1005840"/>
          </a:xfrm>
          <a:prstGeom prst="rect">
            <a:avLst/>
          </a:prstGeom>
          <a:solidFill>
            <a:srgbClr val="253358"/>
          </a:solidFill>
          <a:ln w="25400">
            <a:solidFill>
              <a:srgbClr val="5470A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991856" y="3328416"/>
            <a:ext cx="932688" cy="731520"/>
          </a:xfrm>
          <a:prstGeom prst="rect">
            <a:avLst/>
          </a:prstGeom>
          <a:solidFill>
            <a:srgbClr val="2E4580"/>
          </a:solidFill>
          <a:ln w="12700">
            <a:solidFill>
              <a:srgbClr val="2E458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REDCO Rollout to AZAD – Gap Analysis &amp; Migration Scope</dc:title>
  <dc:subject>PptxGenJS Presentation</dc:subject>
  <dc:creator>PptxGenJS</dc:creator>
  <cp:lastModifiedBy>PptxGenJS</cp:lastModifiedBy>
  <cp:revision>1</cp:revision>
  <dcterms:created xsi:type="dcterms:W3CDTF">2026-06-25T09:08:48Z</dcterms:created>
  <dcterms:modified xsi:type="dcterms:W3CDTF">2026-06-25T09:08:48Z</dcterms:modified>
</cp:coreProperties>
</file>